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IPv6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00C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AD9-47B4-9471-CBA647D2B9BB}"/>
              </c:ext>
            </c:extLst>
          </c:dPt>
          <c:dPt>
            <c:idx val="1"/>
            <c:bubble3D val="0"/>
            <c:spPr>
              <a:solidFill>
                <a:srgbClr val="DDE2F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AD9-47B4-9471-CBA647D2B9BB}"/>
              </c:ext>
            </c:extLst>
          </c:dPt>
          <c:cat>
            <c:strRef>
              <c:f>Sheet1!$A$2:$A$3</c:f>
              <c:strCache>
                <c:ptCount val="2"/>
                <c:pt idx="0">
                  <c:v>IPv6 success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D9-47B4-9471-CBA647D2B9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74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17520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0"/>
            <a:ext cx="3017520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AIORI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Roshni Singh &amp; Shruti Kumari  •  PS-028  •  October 5, 2026</a:t>
            </a:r>
            <a:endParaRPr lang="en-US" sz="1000" dirty="0"/>
          </a:p>
        </p:txBody>
      </p:sp>
      <p:sp>
        <p:nvSpPr>
          <p:cNvPr id="8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3108960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4754880"/>
            <a:ext cx="3017520" cy="128016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4754880"/>
            <a:ext cx="3017520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>
            <a:spLocks noGrp="1"/>
          </p:cNvSpPr>
          <p:nvPr>
            <p:ph type="title" idx="105" hasCustomPrompt="1"/>
          </p:nvPr>
        </p:nvSpPr>
        <p:spPr>
          <a:xfrm>
            <a:off x="64008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6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2240280"/>
            <a:ext cx="73152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64008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PS-028</a:t>
            </a:r>
            <a:endParaRPr lang="en-US" sz="40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224028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Happy Eyeballs IPv4/IPv6 Fallback Measurement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Faculty Mentor: Prachi Sharma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Students: Roshni Singh &amp; Shruti Kumari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Description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Dual-stack clients often meet broken or slow IPv6 paths while IPv4 works fine.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374904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373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37360"/>
            <a:ext cx="3246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Connection Delay Trap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365760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3"/>
                </a:solidFill>
              </a:rPr>
              <a:t>20+ sec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TCP timeout before IPv4 fallback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Without a fallback mechanism, a client using a failing IPv6 route waits for a full TCP timeout before trying IPv4.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54480"/>
            <a:ext cx="374904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737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737360"/>
            <a:ext cx="3246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Measurement Gap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40280"/>
            <a:ext cx="365760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 data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granular, real-time fallback telemetry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Operators lack visibility into how often clients fall back, why, and the exact penalty of fixed connection-delay timers.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Background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783080"/>
            <a:ext cx="1371600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Client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737360" y="2148840"/>
            <a:ext cx="50292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240280" y="1188720"/>
            <a:ext cx="1371600" cy="173736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11880" y="1463040"/>
            <a:ext cx="73152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11880" y="2651760"/>
            <a:ext cx="7315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343400" y="1234440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 record (IPv4)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423160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AAAA record (IPv6)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68580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2651760"/>
            <a:ext cx="6858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766560" y="118872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Dual-stack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Server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✗ may be dropped (carrier, router, tunnel)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337560"/>
            <a:ext cx="237744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IPv6 preferred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OS and browsers choose IPv6 for its architectural advantages.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46120" y="333756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337560"/>
            <a:ext cx="237744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Paths can break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Carrier networks, misconfigured home routers and tunnel failures drop IPv6.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33756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337560"/>
            <a:ext cx="237744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measure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Fallback measurement is critical for performance tuning.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Literature &amp; RFC Review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103120" cy="594360"/>
          </a:xfrm>
          <a:prstGeom prst="pentagon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RFC 6555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Happy Eyeballs v1 [1]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2011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Parallel attempts with a small delay: prefer IPv6, swift fallback.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188720"/>
            <a:ext cx="2103120" cy="594360"/>
          </a:xfrm>
          <a:prstGeom prst="pent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RFC 8305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Happy Eyeballs v2 [2]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240280"/>
            <a:ext cx="2011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Better address sorting, concurrent DNS lookups, standard delay timers.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188720"/>
            <a:ext cx="2103120" cy="594360"/>
          </a:xfrm>
          <a:prstGeom prst="pentagon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Studies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APNIC &amp; RIPE Labs [4][6]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40280"/>
            <a:ext cx="2011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Fixed 250–300 ms timers penalize high-latency links.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040880" y="1097280"/>
          <a:ext cx="1737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726948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&gt;90%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native IPv6 success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Takeaway: </a:t>
            </a:r>
            <a:r>
              <a:rPr lang="en-US" sz="1350" dirty="0">
                <a:solidFill>
                  <a:schemeClr val="tx1"/>
                </a:solidFill>
              </a:rPr>
              <a:t>IPv6 mostly works, yet static timers still hurt slower links. The gap: no fine-grained, real-time fallback telemetry or adaptive delay. Also see RFC 6556 [3], [5].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Active-Passive Hybrid Telemetry Framework: capture, aggregate and analyze IPv4/IPv6 fallback metrics across client apps.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2194560" cy="2651760"/>
          </a:xfrm>
          <a:prstGeom prst="roundRect">
            <a:avLst>
              <a:gd name="adj" fmla="val 4167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 Application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Lightweight Telemetry Probe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51760" y="2194560"/>
            <a:ext cx="64008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337560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828800"/>
            <a:ext cx="48463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828800"/>
            <a:ext cx="4572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DNS resolution times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3108960"/>
            <a:ext cx="640080" cy="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337560" y="28803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743200"/>
            <a:ext cx="48463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2743200"/>
            <a:ext cx="4572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TCP handshake times (IPv4 &amp; IPv6)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4023360"/>
            <a:ext cx="64008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337560" y="37947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3657600"/>
            <a:ext cx="48463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3657600"/>
            <a:ext cx="4572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Network metadata: ASN, geo-location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Optimization Proposed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ADDT:   Tdelay = max(min_threshold, α × RTTavg)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Fixed timer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737360"/>
            <a:ext cx="21945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IPv6 wait: 250–300 ms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37360"/>
            <a:ext cx="201168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IPv4 starts early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Adaptive (ADDT)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40280"/>
            <a:ext cx="329184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IPv6 wait: α × RTTavg (high-latency link)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240280"/>
            <a:ext cx="146304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IPv4 starts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Time →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Before (static timer)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After (ADDT)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High-latency links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Premature fallback to IPv4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Premature fallback prevented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Rapid recovery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Preserved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Preserved (min_threshold floor)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Delay adjustment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Fixed, one value for all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Local historical RTT based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Solution Architecture &amp;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237744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 Probe SDK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Intercepts connection races, logs handshake durations, captures fallback triggers.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237744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3716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Ingestion Gateway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High-throughput API endpoint (gRPC/HTTPS) ingesting telemetry payloads.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88720"/>
            <a:ext cx="237744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Time-Series Storage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Prometheus/InfluxDB backend optimized for high-frequency metrics.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Probe SDK   →   Ingestion Gateway   →   Time-Series Storage   →   Analytics Dashboard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Flow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737360"/>
            <a:ext cx="1645920" cy="1188720"/>
          </a:xfrm>
          <a:prstGeom prst="roundRect">
            <a:avLst>
              <a:gd name="adj" fmla="val 7692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1737360"/>
            <a:ext cx="164592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Ingestion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Gateway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737360"/>
            <a:ext cx="1645920" cy="1188720"/>
          </a:xfrm>
          <a:prstGeom prst="can">
            <a:avLst>
              <a:gd name="adj" fmla="val 769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TSDB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737360"/>
            <a:ext cx="164592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Analytics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64008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2331720"/>
            <a:ext cx="64008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0" y="2331720"/>
            <a:ext cx="45720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82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DNS &amp; parallel race (IPv4 / IPv6)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telemetry payloads (gRPC/HTTPS)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high-frequency metrics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queries &amp; insights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Fallback triggers, handshake times and ASN/geo metadata flow end to end for analysis.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Deployment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786384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645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Weeks 1–3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19202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Finalize SDK specifications and define event schemas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6459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240280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Weeks 4–6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788920"/>
            <a:ext cx="19202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Internal pilot, staging integration, simulation testing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64592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Weeks 7–9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88920"/>
            <a:ext cx="19202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Staged production rollout to 10% live user base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164592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240280"/>
            <a:ext cx="192024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Weeks 10–12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788920"/>
            <a:ext cx="19202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tx1"/>
                </a:solidFill>
              </a:rPr>
              <a:t>General availability, dashboard calibration, ADDT tuning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>
            <a:spLocks noGrp="1"/>
          </p:cNvSpPr>
          <p:nvPr>
            <p:ph type="title" idx="106" hasCustomPrompt="1"/>
          </p:nvPr>
        </p:nvSpPr>
        <p:spPr>
          <a:xfrm>
            <a:off x="45720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Bibliography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097280"/>
            <a:ext cx="76809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097280"/>
            <a:ext cx="7498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D. Wing, A. Yourtchenko. “Happy Eyeballs: Success with Dual-Stack Hosts.” RFC 6555, IETF, 2012.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4650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00784"/>
            <a:ext cx="76809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700784"/>
            <a:ext cx="7498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D. Schinazi, T. Pauly. “Happy Eyeballs Version 2: Better Connectivity Using Concurrency.” RFC 8305, IETF, 2017.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500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304288"/>
            <a:ext cx="76809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2304288"/>
            <a:ext cx="7498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F. Baker. “Testing Eyeball Happiness.” RFC 6556, IETF, 2012.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53512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907792"/>
            <a:ext cx="76809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2907792"/>
            <a:ext cx="7498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V. Bajpai, J. Schönwälder. “Measuring the Effects of Happy Eyeballs.” ANRW ’16, 2016. doi:10.1145/2959424.2959429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57016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3511296"/>
            <a:ext cx="76809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511296"/>
            <a:ext cx="7498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V. Bajpai, J. Schönwälder. “IPv4 versus IPv6 – who connects faster?” IFIP Networking, 2015. doi:10.1109/IFIPNetworking.2015.7145323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4114800"/>
            <a:ext cx="76809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114800"/>
            <a:ext cx="7498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P. Sattler et al. “Lazy Eye Inspection: Capturing the State of Happy Eyeballs Implementations.” ACM IMC ’25, 2025. doi:10.1145/3730567.3732925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5" hasCustomPrompt="1"/>
          </p:nvPr>
        </p:nvSpPr>
        <p:spPr>
          <a:xfrm>
            <a:off x="64008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 for Your Attention!</a:t>
            </a:r>
            <a:endParaRPr lang="en-US" sz="4000" dirty="0"/>
          </a:p>
        </p:txBody>
      </p:sp>
      <p:sp>
        <p:nvSpPr>
          <p:cNvPr id="3" name="Text 3"/>
          <p:cNvSpPr>
            <a:spLocks noGrp="1"/>
          </p:cNvSpPr>
          <p:nvPr>
            <p:ph type="body" idx="106" hasCustomPrompt="1"/>
          </p:nvPr>
        </p:nvSpPr>
        <p:spPr>
          <a:xfrm>
            <a:off x="640080" y="224028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3">
  <a:themeElements>
    <a:clrScheme name="AIORI3">
      <a:dk1>
        <a:srgbClr val="1A1A1A"/>
      </a:dk1>
      <a:lt1>
        <a:srgbClr val="FFFFFF"/>
      </a:lt1>
      <a:dk2>
        <a:srgbClr val="0000CC"/>
      </a:dk2>
      <a:lt2>
        <a:srgbClr val="EEF0FF"/>
      </a:lt2>
      <a:accent1>
        <a:srgbClr val="0000CC"/>
      </a:accent1>
      <a:accent2>
        <a:srgbClr val="DDE2FF"/>
      </a:accent2>
      <a:accent3>
        <a:srgbClr val="F28C28"/>
      </a:accent3>
      <a:accent4>
        <a:srgbClr val="138808"/>
      </a:accent4>
      <a:accent5>
        <a:srgbClr val="6B6B6B"/>
      </a:accent5>
      <a:accent6>
        <a:srgbClr val="0A1F7A"/>
      </a:accent6>
      <a:hlink>
        <a:srgbClr val="0000CC"/>
      </a:hlink>
      <a:folHlink>
        <a:srgbClr val="6B6B6B"/>
      </a:folHlink>
    </a:clrScheme>
    <a:fontScheme name="AIORI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AIORI3</vt:lpstr>
      <vt:lpstr>PS-028</vt:lpstr>
      <vt:lpstr>Problem Description</vt:lpstr>
      <vt:lpstr>Background</vt:lpstr>
      <vt:lpstr>Literature &amp; RFC Review</vt:lpstr>
      <vt:lpstr>Proposed Solution</vt:lpstr>
      <vt:lpstr>Optimization Proposed</vt:lpstr>
      <vt:lpstr>Solution Architecture &amp; Design</vt:lpstr>
      <vt:lpstr>Data Flow Diagram</vt:lpstr>
      <vt:lpstr>Deployment Timeline</vt:lpstr>
      <vt:lpstr>Bibliography</vt:lpstr>
      <vt:lpstr>Thank You for Your Attention!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 Eyeballs IPv4/IPv6 Fallback Measurement</dc:title>
  <dc:subject>PptxGenJS Presentation</dc:subject>
  <dc:creator>PptxGenJS</dc:creator>
  <cp:lastModifiedBy>SHRUTI JHA</cp:lastModifiedBy>
  <cp:revision>2</cp:revision>
  <dcterms:created xsi:type="dcterms:W3CDTF">2026-10-16T07:57:12Z</dcterms:created>
  <dcterms:modified xsi:type="dcterms:W3CDTF">2026-10-16T09:07:46Z</dcterms:modified>
</cp:coreProperties>
</file>